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66928"/>
            <a:ext cx="11292840" cy="0"/>
          </a:xfrm>
          <a:prstGeom prst="line">
            <a:avLst/>
          </a:prstGeom>
          <a:noFill/>
          <a:ln w="12700">
            <a:solidFill>
              <a:srgbClr val="D9E1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2970ef745.jpeg"/>
          <p:cNvPicPr>
            <a:picLocks noChangeAspect="1"/>
          </p:cNvPicPr>
          <p:nvPr/>
        </p:nvPicPr>
        <p:blipFill>
          <a:blip r:embed="rId3"/>
          <a:srcRect l="18533" r="18533"/>
          <a:stretch/>
        </p:blipFill>
        <p:spPr>
          <a:xfrm>
            <a:off x="5715000" y="0"/>
            <a:ext cx="6473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230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6A6"/>
                </a:solidFill>
              </a:rPr>
              <a:t>DTMC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1874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SharePoint Modernization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21792" y="3337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9EF"/>
                </a:solidFill>
              </a:rPr>
              <a:t>A clear, secure and sustainable digital workplace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5138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Prepared for BlueOak Learning Alliance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Casey Rivera | casey.rivera@blueoak.example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9B8"/>
                </a:solidFill>
              </a:rPr>
              <a:t>All organizations, contacts, amounts and dates are fictional sample data.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the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The decision this engagement is designed to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983480" cy="2788920"/>
          </a:xfrm>
          <a:prstGeom prst="roundRect">
            <a:avLst/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443484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04A"/>
                </a:solidFill>
              </a:rPr>
              <a:t>BlueOak needs a trusted intranet and content foundation that improves findability, ownership, governance and long-term adoption.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6"/>
                </a:solidFill>
              </a:rPr>
              <a:t>Success themes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468880"/>
            <a:ext cx="292608" cy="29260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32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304A"/>
                </a:solidFill>
              </a:rPr>
              <a:t>Modern information architecture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0760" y="3127248"/>
            <a:ext cx="292608" cy="29260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90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304A"/>
                </a:solidFill>
              </a:rPr>
              <a:t>Governed site lifecycle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3785616"/>
            <a:ext cx="292608" cy="29260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49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304A"/>
                </a:solidFill>
              </a:rPr>
              <a:t>Migration strategy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80760" y="4443984"/>
            <a:ext cx="292608" cy="29260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407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304A"/>
                </a:solidFill>
              </a:rPr>
              <a:t>Adoption roadmap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Three stages from alignment to an actionable 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4A"/>
                </a:solidFill>
              </a:rPr>
              <a:t>Discover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Stakeholder interviews and current-state review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3429000" cy="2971800"/>
          </a:xfrm>
          <a:prstGeom prst="roundRect">
            <a:avLst/>
          </a:prstGeom>
          <a:solidFill>
            <a:srgbClr val="EAF5F5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148840"/>
            <a:ext cx="502920" cy="50292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4A"/>
                </a:solidFill>
              </a:rPr>
              <a:t>Design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Target architecture, navigation and governance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148840"/>
            <a:ext cx="502920" cy="50292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53144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4A"/>
                </a:solidFill>
              </a:rPr>
              <a:t>Plan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04504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Migration waves, adoption and implementation roadmap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receive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Concrete outputs designed for reuse and executive 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6A6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Current-state assessment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6A6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7687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Target information architecture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5166360" cy="859536"/>
          </a:xfrm>
          <a:prstGeom prst="roundRect">
            <a:avLst/>
          </a:prstGeom>
          <a:solidFill>
            <a:srgbClr val="EAF5F5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6A6"/>
                </a:solidFill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5331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Governance and security framework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999232"/>
            <a:ext cx="5166360" cy="859536"/>
          </a:xfrm>
          <a:prstGeom prst="roundRect">
            <a:avLst/>
          </a:prstGeom>
          <a:solidFill>
            <a:srgbClr val="EAF5F5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6A6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7687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Migration strategy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6A6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53312" y="43525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04A"/>
                </a:solidFill>
              </a:rPr>
              <a:t>Phased implementation roadmap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plan and investment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Illustrative sample terms, ready to tailor during contracting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6"/>
                </a:solidFill>
              </a:rPr>
              <a:t>Delivery cadence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154680" cy="960120"/>
          </a:xfrm>
          <a:prstGeom prst="chevron">
            <a:avLst/>
          </a:prstGeom>
          <a:solidFill>
            <a:srgbClr val="123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Discover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606040"/>
            <a:ext cx="3154680" cy="96012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Weeks 2-4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606040"/>
            <a:ext cx="3154680" cy="960120"/>
          </a:xfrm>
          <a:prstGeom prst="chevron">
            <a:avLst/>
          </a:prstGeom>
          <a:solidFill>
            <a:srgbClr val="123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Weeks 5-6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378440" cy="1051560"/>
          </a:xfrm>
          <a:prstGeom prst="roundRect">
            <a:avLst/>
          </a:prstGeom>
          <a:solidFill>
            <a:srgbClr val="EAF5F5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7091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04A"/>
                </a:solidFill>
              </a:rPr>
              <a:t>Illustrative fixed fee: $38,000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5596128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7B85"/>
                </a:solidFill>
              </a:rPr>
              <a:t>Dummy commercial values for format evaluation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DTMC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Practical strategy. Disciplined delivery. Transferable capability.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4A"/>
                </a:solidFill>
              </a:rPr>
              <a:t>Business + 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4A"/>
                </a:solidFill>
              </a:rPr>
              <a:t>Governance by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4A"/>
                </a:solidFill>
              </a:rPr>
              <a:t>Outcome-led delivery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4A"/>
                </a:solidFill>
              </a:rPr>
              <a:t>Knowledge transfer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10972800" cy="192024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75888"/>
            <a:ext cx="101041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DTMC brings advisory, architecture, delivery and adoption into one accountable team. We shape the engagement around the client’s decision, keep scope visible and leave behind reusable assets rather than a dependency on consultants.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</a:rPr>
              <a:t>Next step: confirm objectives, stakeholder access and the preferred commercial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7A6C9EA1B72C4282D04DDB794233E3" ma:contentTypeVersion="11" ma:contentTypeDescription="Create a new document." ma:contentTypeScope="" ma:versionID="168cd0db86a9d53174105700045df54d">
  <xsd:schema xmlns:xsd="http://www.w3.org/2001/XMLSchema" xmlns:xs="http://www.w3.org/2001/XMLSchema" xmlns:p="http://schemas.microsoft.com/office/2006/metadata/properties" xmlns:ns2="be6cde44-f2ce-4511-b243-c630db64e240" xmlns:ns3="18c5ad11-9392-4153-ba4f-50d41d605136" targetNamespace="http://schemas.microsoft.com/office/2006/metadata/properties" ma:root="true" ma:fieldsID="0e12ca21219e5f148ecae76eb8c88d23" ns2:_="" ns3:_="">
    <xsd:import namespace="be6cde44-f2ce-4511-b243-c630db64e240"/>
    <xsd:import namespace="18c5ad11-9392-4153-ba4f-50d41d6051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cde44-f2ce-4511-b243-c630db64e2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c29226a-91c8-40b5-9b3a-2acf9fb44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c5ad11-9392-4153-ba4f-50d41d60513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38d235-2653-415b-abd2-3bd5bc475d67}" ma:internalName="TaxCatchAll" ma:showField="CatchAllData" ma:web="18c5ad11-9392-4153-ba4f-50d41d6051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c5ad11-9392-4153-ba4f-50d41d605136" xsi:nil="true"/>
    <lcf76f155ced4ddcb4097134ff3c332f xmlns="be6cde44-f2ce-4511-b243-c630db64e2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A3747D-00FB-4B8B-9511-277888DD38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6cde44-f2ce-4511-b243-c630db64e240"/>
    <ds:schemaRef ds:uri="18c5ad11-9392-4153-ba4f-50d41d6051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F746BA-5020-413D-AC78-691B7F12A5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4EB9C5-D149-4E66-855F-3F40350BF391}">
  <ds:schemaRefs>
    <ds:schemaRef ds:uri="http://schemas.microsoft.com/office/2006/metadata/properties"/>
    <ds:schemaRef ds:uri="http://schemas.microsoft.com/office/infopath/2007/PartnerControls"/>
    <ds:schemaRef ds:uri="18c5ad11-9392-4153-ba4f-50d41d605136"/>
    <ds:schemaRef ds:uri="be6cde44-f2ce-4511-b243-c630db64e24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DTMC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Modernization</dc:title>
  <dc:subject>Sanitized fictional proposal sample</dc:subject>
  <dc:creator>Nikhil Bheemreddy</dc:creator>
  <cp:lastModifiedBy>Asus</cp:lastModifiedBy>
  <cp:revision>3</cp:revision>
  <dcterms:created xsi:type="dcterms:W3CDTF">2026-08-27T07:11:48Z</dcterms:created>
  <dcterms:modified xsi:type="dcterms:W3CDTF">2026-09-02T20:31:11Z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0x010100037A6C9EA1B72C4282D04DDB794233E3</vt:lpwstr>
  </property>
  <property fmtid="{D5CDD505-2E9C-101B-9397-08002B2CF9AE}" pid="3" name="MediaServiceImageTags">
    <vt:lpwstr/>
  </property>
</Properties>
</file>