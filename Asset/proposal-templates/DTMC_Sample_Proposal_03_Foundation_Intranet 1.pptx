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66928"/>
            <a:ext cx="11292840" cy="0"/>
          </a:xfrm>
          <a:prstGeom prst="line">
            <a:avLst/>
          </a:prstGeom>
          <a:noFill/>
          <a:ln w="12700">
            <a:solidFill>
              <a:srgbClr val="D9E1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67982d972.jpeg"/>
          <p:cNvPicPr>
            <a:picLocks noChangeAspect="1"/>
          </p:cNvPicPr>
          <p:nvPr/>
        </p:nvPicPr>
        <p:blipFill>
          <a:blip r:embed="rId3"/>
          <a:srcRect l="18533" r="18533"/>
          <a:stretch/>
        </p:blipFill>
        <p:spPr>
          <a:xfrm>
            <a:off x="5715000" y="0"/>
            <a:ext cx="6473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244B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7C69"/>
                </a:solidFill>
              </a:rPr>
              <a:t>DTMC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1874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Intranet MVP Proposal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21792" y="3337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9EF"/>
                </a:solidFill>
              </a:rPr>
              <a:t>A calm, clear and usable home for organizational knowledge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" y="51389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5DF"/>
                </a:solidFill>
              </a:rPr>
              <a:t>Prepared for Evergreen Civic Foundation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D5DF"/>
                </a:solidFill>
              </a:rPr>
              <a:t>Dana Lewis | dana.lewis@evergreen.example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9B8"/>
                </a:solidFill>
              </a:rPr>
              <a:t>All organizations, contacts, amounts and dates are fictional sample data.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7C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4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the need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The decision this engagement is designed to support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983480" cy="2788920"/>
          </a:xfrm>
          <a:prstGeom prst="roundRect">
            <a:avLst/>
          </a:prstGeom>
          <a:solidFill>
            <a:srgbClr val="F7EDEA"/>
          </a:solidFill>
          <a:ln w="12700">
            <a:solidFill>
              <a:srgbClr val="E77C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21992"/>
            <a:ext cx="443484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44B5A"/>
                </a:solidFill>
              </a:rPr>
              <a:t>Evergreen wants an achievable SharePoint intranet MVP that makes policies, resources, communications and team content easier to find without creating a complex publishing burden.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807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7C69"/>
                </a:solidFill>
              </a:rPr>
              <a:t>Success themes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468880"/>
            <a:ext cx="292608" cy="292608"/>
          </a:xfrm>
          <a:prstGeom prst="ellipse">
            <a:avLst/>
          </a:prstGeom>
          <a:solidFill>
            <a:srgbClr val="E77C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32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4B5A"/>
                </a:solidFill>
              </a:rPr>
              <a:t>User-centered navigation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80760" y="3127248"/>
            <a:ext cx="292608" cy="292608"/>
          </a:xfrm>
          <a:prstGeom prst="ellipse">
            <a:avLst/>
          </a:prstGeom>
          <a:solidFill>
            <a:srgbClr val="E77C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090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4B5A"/>
                </a:solidFill>
              </a:rPr>
              <a:t>Practical page patterns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80760" y="3785616"/>
            <a:ext cx="292608" cy="292608"/>
          </a:xfrm>
          <a:prstGeom prst="ellipse">
            <a:avLst/>
          </a:prstGeom>
          <a:solidFill>
            <a:srgbClr val="E77C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749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4B5A"/>
                </a:solidFill>
              </a:rPr>
              <a:t>Content owner enablement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80760" y="4443984"/>
            <a:ext cx="292608" cy="292608"/>
          </a:xfrm>
          <a:prstGeom prst="ellipse">
            <a:avLst/>
          </a:prstGeom>
          <a:solidFill>
            <a:srgbClr val="E77C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4074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4B5A"/>
                </a:solidFill>
              </a:rPr>
              <a:t>MVP launch plan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7C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4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approach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Three stages from alignment to an actionable result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7C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E77C6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4B5A"/>
                </a:solidFill>
              </a:rPr>
              <a:t>Listen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User interviews and content inventory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62272" y="1874520"/>
            <a:ext cx="3429000" cy="2971800"/>
          </a:xfrm>
          <a:prstGeom prst="roundRect">
            <a:avLst/>
          </a:prstGeom>
          <a:solidFill>
            <a:srgbClr val="F7EDEA"/>
          </a:solidFill>
          <a:ln w="19050">
            <a:solidFill>
              <a:srgbClr val="E77C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148840"/>
            <a:ext cx="502920" cy="502920"/>
          </a:xfrm>
          <a:prstGeom prst="rect">
            <a:avLst/>
          </a:prstGeom>
          <a:solidFill>
            <a:srgbClr val="E77C6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4B5A"/>
                </a:solidFill>
              </a:rPr>
              <a:t>Prototype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Navigation, page patterns and visual direction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7C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148840"/>
            <a:ext cx="502920" cy="502920"/>
          </a:xfrm>
          <a:prstGeom prst="rect">
            <a:avLst/>
          </a:prstGeom>
          <a:solidFill>
            <a:srgbClr val="E77C6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53144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4B5A"/>
                </a:solidFill>
              </a:rPr>
              <a:t>Launch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04504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Build guidance, adoption plan and prioritized backlog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7C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4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will receive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Concrete outputs designed for reuse and executive 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7C69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53312" y="2048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4B5A"/>
                </a:solidFill>
              </a:rPr>
              <a:t>Audience and content findings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47088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7C69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76872" y="2048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4B5A"/>
                </a:solidFill>
              </a:rPr>
              <a:t>Navigation blueprint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99232"/>
            <a:ext cx="5166360" cy="859536"/>
          </a:xfrm>
          <a:prstGeom prst="roundRect">
            <a:avLst/>
          </a:prstGeom>
          <a:solidFill>
            <a:srgbClr val="F7EDEA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7C69"/>
                </a:solidFill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53312" y="3200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4B5A"/>
                </a:solidFill>
              </a:rPr>
              <a:t>Home and department page concepts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999232"/>
            <a:ext cx="5166360" cy="859536"/>
          </a:xfrm>
          <a:prstGeom prst="roundRect">
            <a:avLst/>
          </a:prstGeom>
          <a:solidFill>
            <a:srgbClr val="F7EDEA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7C69"/>
                </a:solidFill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76872" y="3200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4B5A"/>
                </a:solidFill>
              </a:rPr>
              <a:t>Governance starter kit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151376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7C69"/>
                </a:solidFill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53312" y="43525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4B5A"/>
                </a:solidFill>
              </a:rPr>
              <a:t>MVP launch backlog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7C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4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plan and investment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Illustrative sample terms, ready to tailor during contracting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7C69"/>
                </a:solidFill>
              </a:rPr>
              <a:t>Delivery cadence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3154680" cy="960120"/>
          </a:xfrm>
          <a:prstGeom prst="chevron">
            <a:avLst/>
          </a:prstGeom>
          <a:solidFill>
            <a:srgbClr val="244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606040"/>
            <a:ext cx="3154680" cy="960120"/>
          </a:xfrm>
          <a:prstGeom prst="chevron">
            <a:avLst/>
          </a:prstGeom>
          <a:solidFill>
            <a:srgbClr val="E77C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Prototype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Weeks 2-3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2606040"/>
            <a:ext cx="3154680" cy="960120"/>
          </a:xfrm>
          <a:prstGeom prst="chevron">
            <a:avLst/>
          </a:prstGeom>
          <a:solidFill>
            <a:srgbClr val="244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Weeks 4-5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0378440" cy="1051560"/>
          </a:xfrm>
          <a:prstGeom prst="roundRect">
            <a:avLst/>
          </a:prstGeom>
          <a:solidFill>
            <a:srgbClr val="F7EDEA"/>
          </a:solidFill>
          <a:ln w="15240">
            <a:solidFill>
              <a:srgbClr val="E77C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7091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4B5A"/>
                </a:solidFill>
              </a:rPr>
              <a:t>Illustrative fixed fee: $29,500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5596128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7B85"/>
                </a:solidFill>
              </a:rPr>
              <a:t>Dummy commercial values for format evaluation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7C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4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DTMC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Practical strategy. Disciplined delivery. Transferable capability.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7EDEA"/>
          </a:solidFill>
          <a:ln w="12700">
            <a:solidFill>
              <a:srgbClr val="E77C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5A"/>
                </a:solidFill>
              </a:rPr>
              <a:t>Business + technology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7EDEA"/>
          </a:solidFill>
          <a:ln w="12700">
            <a:solidFill>
              <a:srgbClr val="E77C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5A"/>
                </a:solidFill>
              </a:rPr>
              <a:t>Governance by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7EDEA"/>
          </a:solidFill>
          <a:ln w="12700">
            <a:solidFill>
              <a:srgbClr val="E77C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5A"/>
                </a:solidFill>
              </a:rPr>
              <a:t>Outcome-led delivery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239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7EDEA"/>
          </a:solidFill>
          <a:ln w="12700">
            <a:solidFill>
              <a:srgbClr val="E77C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4B5A"/>
                </a:solidFill>
              </a:rPr>
              <a:t>Knowledge transfer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10972800" cy="1920240"/>
          </a:xfrm>
          <a:prstGeom prst="roundRect">
            <a:avLst/>
          </a:prstGeom>
          <a:solidFill>
            <a:srgbClr val="244B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75888"/>
            <a:ext cx="101041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DTMC brings advisory, architecture, delivery and adoption into one accountable team. We shape the engagement around the client’s decision, keep scope visible and leave behind reusable assets rather than a dependency on consultants.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715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7C69"/>
                </a:solidFill>
              </a:rPr>
              <a:t>Next step: confirm objectives, stakeholder access and the preferred commercial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8c5ad11-9392-4153-ba4f-50d41d605136" xsi:nil="true"/>
    <lcf76f155ced4ddcb4097134ff3c332f xmlns="be6cde44-f2ce-4511-b243-c630db64e24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7A6C9EA1B72C4282D04DDB794233E3" ma:contentTypeVersion="11" ma:contentTypeDescription="Create a new document." ma:contentTypeScope="" ma:versionID="168cd0db86a9d53174105700045df54d">
  <xsd:schema xmlns:xsd="http://www.w3.org/2001/XMLSchema" xmlns:xs="http://www.w3.org/2001/XMLSchema" xmlns:p="http://schemas.microsoft.com/office/2006/metadata/properties" xmlns:ns2="be6cde44-f2ce-4511-b243-c630db64e240" xmlns:ns3="18c5ad11-9392-4153-ba4f-50d41d605136" targetNamespace="http://schemas.microsoft.com/office/2006/metadata/properties" ma:root="true" ma:fieldsID="0e12ca21219e5f148ecae76eb8c88d23" ns2:_="" ns3:_="">
    <xsd:import namespace="be6cde44-f2ce-4511-b243-c630db64e240"/>
    <xsd:import namespace="18c5ad11-9392-4153-ba4f-50d41d6051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6cde44-f2ce-4511-b243-c630db64e2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c29226a-91c8-40b5-9b3a-2acf9fb44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c5ad11-9392-4153-ba4f-50d41d60513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38d235-2653-415b-abd2-3bd5bc475d67}" ma:internalName="TaxCatchAll" ma:showField="CatchAllData" ma:web="18c5ad11-9392-4153-ba4f-50d41d6051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BE89C2-3054-4ABA-8E8F-AA08043DCAF3}">
  <ds:schemaRefs>
    <ds:schemaRef ds:uri="http://schemas.microsoft.com/office/2006/metadata/properties"/>
    <ds:schemaRef ds:uri="http://schemas.microsoft.com/office/infopath/2007/PartnerControls"/>
    <ds:schemaRef ds:uri="18c5ad11-9392-4153-ba4f-50d41d605136"/>
    <ds:schemaRef ds:uri="be6cde44-f2ce-4511-b243-c630db64e240"/>
  </ds:schemaRefs>
</ds:datastoreItem>
</file>

<file path=customXml/itemProps2.xml><?xml version="1.0" encoding="utf-8"?>
<ds:datastoreItem xmlns:ds="http://schemas.openxmlformats.org/officeDocument/2006/customXml" ds:itemID="{42CCE091-C2B3-43A4-AAE5-15F6D780BC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66E0E7-664E-4DC1-9C14-0AE3070C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6cde44-f2ce-4511-b243-c630db64e240"/>
    <ds:schemaRef ds:uri="18c5ad11-9392-4153-ba4f-50d41d6051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DTMC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Intranet MVP Proposal</dc:title>
  <dc:subject>Sanitized fictional proposal sample</dc:subject>
  <dc:creator>Nikhil Bheemreddy</dc:creator>
  <cp:lastModifiedBy>Asus</cp:lastModifiedBy>
  <cp:revision>2</cp:revision>
  <dcterms:created xsi:type="dcterms:W3CDTF">2026-08-27T07:11:56Z</dcterms:created>
  <dcterms:modified xsi:type="dcterms:W3CDTF">2026-09-02T20:31:39Z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0x010100037A6C9EA1B72C4282D04DDB794233E3</vt:lpwstr>
  </property>
</Properties>
</file>