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80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adapted into a fictional, sanitized sample from internal proposal patterns.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adapted into a fictional, sanitized sample from internal proposal patterns.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adapted into a fictional, sanitized sample from internal proposal patterns.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adapted into a fictional, sanitized sample from internal proposal patterns.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Content adapted into a fictional, sanitized sample from internal proposal patterns.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66928"/>
            <a:ext cx="11292840" cy="0"/>
          </a:xfrm>
          <a:prstGeom prst="line">
            <a:avLst/>
          </a:prstGeom>
          <a:noFill/>
          <a:ln w="12700">
            <a:solidFill>
              <a:srgbClr val="D9E1E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fbf498eb02.jpeg"/>
          <p:cNvPicPr>
            <a:picLocks noChangeAspect="1"/>
          </p:cNvPicPr>
          <p:nvPr/>
        </p:nvPicPr>
        <p:blipFill>
          <a:blip r:embed="rId3"/>
          <a:srcRect l="18533" r="18533"/>
          <a:stretch/>
        </p:blipFill>
        <p:spPr>
          <a:xfrm>
            <a:off x="5715000" y="0"/>
            <a:ext cx="6473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1822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502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657D5"/>
                </a:solidFill>
              </a:rPr>
              <a:t>DTMC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94360" y="187452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Responsible Enterprise AI Training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21792" y="333756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CE9EF"/>
                </a:solidFill>
              </a:rPr>
              <a:t>Role-based learning that turns safe AI use into repeatable practice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21792" y="5138928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6D5DF"/>
                </a:solidFill>
              </a:rPr>
              <a:t>Prepared for Cobalt Research Council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6D5DF"/>
                </a:solidFill>
              </a:rPr>
              <a:t>Alex Singh | alex.singh@cobalt.example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21792" y="6172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9B8"/>
                </a:solidFill>
              </a:rPr>
              <a:t>All organizations, contacts, amounts and dates are fictional sample data.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657D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DTMC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732520" y="22860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4808B"/>
                </a:solidFill>
              </a:rPr>
              <a:t>SAMPLE  •  FICTIONAL DATA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52881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9D"/>
                </a:solidFill>
              </a:rPr>
              <a:t>02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68580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2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Understanding the need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12648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B76"/>
                </a:solidFill>
              </a:rPr>
              <a:t>The decision this engagement is designed to support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4983480" cy="2788920"/>
          </a:xfrm>
          <a:prstGeom prst="roundRect">
            <a:avLst/>
          </a:prstGeom>
          <a:solidFill>
            <a:srgbClr val="F0EDFC"/>
          </a:solidFill>
          <a:ln w="12700">
            <a:solidFill>
              <a:srgbClr val="7657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21992"/>
            <a:ext cx="4434840" cy="1874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8224A"/>
                </a:solidFill>
              </a:rPr>
              <a:t>Cobalt wants employees to use enterprise AI confidently while protecting sensitive information, validating outputs and aligning usage with organizational policy.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80760" y="1874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657D5"/>
                </a:solidFill>
              </a:rPr>
              <a:t>Success themes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80760" y="2468880"/>
            <a:ext cx="292608" cy="292608"/>
          </a:xfrm>
          <a:prstGeom prst="ellipse">
            <a:avLst/>
          </a:prstGeom>
          <a:solidFill>
            <a:srgbClr val="7657D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43230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8224A"/>
                </a:solidFill>
              </a:rPr>
              <a:t>Safe-use foundations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080760" y="3127248"/>
            <a:ext cx="292608" cy="292608"/>
          </a:xfrm>
          <a:prstGeom prst="ellipse">
            <a:avLst/>
          </a:prstGeom>
          <a:solidFill>
            <a:srgbClr val="7657D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309067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8224A"/>
                </a:solidFill>
              </a:rPr>
              <a:t>Role-based scenarios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080760" y="3785616"/>
            <a:ext cx="292608" cy="292608"/>
          </a:xfrm>
          <a:prstGeom prst="ellipse">
            <a:avLst/>
          </a:prstGeom>
          <a:solidFill>
            <a:srgbClr val="7657D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374904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8224A"/>
                </a:solidFill>
              </a:rPr>
              <a:t>Prompt and validation patterns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080760" y="4443984"/>
            <a:ext cx="292608" cy="292608"/>
          </a:xfrm>
          <a:prstGeom prst="ellipse">
            <a:avLst/>
          </a:prstGeom>
          <a:solidFill>
            <a:srgbClr val="7657D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440740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8224A"/>
                </a:solidFill>
              </a:rPr>
              <a:t>Manager adoption toolkit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657D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DTMC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732520" y="22860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4808B"/>
                </a:solidFill>
              </a:rPr>
              <a:t>SAMPLE  •  FICTIONAL DATA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52881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9D"/>
                </a:solidFill>
              </a:rPr>
              <a:t>03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68580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2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Proposed approach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12648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B76"/>
                </a:solidFill>
              </a:rPr>
              <a:t>Three stages from alignment to an actionable result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3429000" cy="2971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657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148840"/>
            <a:ext cx="502920" cy="502920"/>
          </a:xfrm>
          <a:prstGeom prst="rect">
            <a:avLst/>
          </a:prstGeom>
          <a:solidFill>
            <a:srgbClr val="7657D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08760" y="21488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8224A"/>
                </a:solidFill>
              </a:rPr>
              <a:t>Prepare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0120" y="2971800"/>
            <a:ext cx="27889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4C5A65"/>
                </a:solidFill>
              </a:rPr>
              <a:t>Audience survey, policy review and scenario design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462272" y="1874520"/>
            <a:ext cx="3429000" cy="2971800"/>
          </a:xfrm>
          <a:prstGeom prst="roundRect">
            <a:avLst/>
          </a:prstGeom>
          <a:solidFill>
            <a:srgbClr val="F0EDFC"/>
          </a:solidFill>
          <a:ln w="19050">
            <a:solidFill>
              <a:srgbClr val="7657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2148840"/>
            <a:ext cx="502920" cy="502920"/>
          </a:xfrm>
          <a:prstGeom prst="rect">
            <a:avLst/>
          </a:prstGeom>
          <a:solidFill>
            <a:srgbClr val="7657D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30952" y="21488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8224A"/>
                </a:solidFill>
              </a:rPr>
              <a:t>Deliver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82312" y="2971800"/>
            <a:ext cx="27889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4C5A65"/>
                </a:solidFill>
              </a:rPr>
              <a:t>Interactive sessions with hands-on exercises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84464" y="1874520"/>
            <a:ext cx="3429000" cy="2971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657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13064" y="2148840"/>
            <a:ext cx="502920" cy="502920"/>
          </a:xfrm>
          <a:prstGeom prst="rect">
            <a:avLst/>
          </a:prstGeom>
          <a:solidFill>
            <a:srgbClr val="7657D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153144" y="21488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8224A"/>
                </a:solidFill>
              </a:rPr>
              <a:t>Reinforce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604504" y="2971800"/>
            <a:ext cx="27889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4C5A65"/>
                </a:solidFill>
              </a:rPr>
              <a:t>Office hours, reusable playbooks and adoption metrics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657D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DTMC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732520" y="22860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4808B"/>
                </a:solidFill>
              </a:rPr>
              <a:t>SAMPLE  •  FICTIONAL DATA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52881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9D"/>
                </a:solidFill>
              </a:rPr>
              <a:t>04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68580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2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you will receive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12648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B76"/>
                </a:solidFill>
              </a:rPr>
              <a:t>Concrete outputs designed for reuse and executive action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847088"/>
            <a:ext cx="5166360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4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0665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657D5"/>
                </a:solidFill>
              </a:rPr>
              <a:t>✓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53312" y="2048256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8224A"/>
                </a:solidFill>
              </a:rPr>
              <a:t>Executive briefing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63640" y="1847088"/>
            <a:ext cx="5166360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4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0665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657D5"/>
                </a:solidFill>
              </a:rPr>
              <a:t>✓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976872" y="2048256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8224A"/>
                </a:solidFill>
              </a:rPr>
              <a:t>Three role-based learning sessions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2999232"/>
            <a:ext cx="5166360" cy="859536"/>
          </a:xfrm>
          <a:prstGeom prst="roundRect">
            <a:avLst/>
          </a:prstGeom>
          <a:solidFill>
            <a:srgbClr val="F0EDFC"/>
          </a:solidFill>
          <a:ln w="12700">
            <a:solidFill>
              <a:srgbClr val="C8D4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2186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657D5"/>
                </a:solidFill>
              </a:rPr>
              <a:t>✓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53312" y="320040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8224A"/>
                </a:solidFill>
              </a:rPr>
              <a:t>Prompt and validation playbook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63640" y="2999232"/>
            <a:ext cx="5166360" cy="859536"/>
          </a:xfrm>
          <a:prstGeom prst="roundRect">
            <a:avLst/>
          </a:prstGeom>
          <a:solidFill>
            <a:srgbClr val="F0EDFC"/>
          </a:solidFill>
          <a:ln w="12700">
            <a:solidFill>
              <a:srgbClr val="C8D4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32186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657D5"/>
                </a:solidFill>
              </a:rPr>
              <a:t>✓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976872" y="320040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8224A"/>
                </a:solidFill>
              </a:rPr>
              <a:t>Facilitator materials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4151376"/>
            <a:ext cx="5166360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4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3708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657D5"/>
                </a:solidFill>
              </a:rPr>
              <a:t>✓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353312" y="4352544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8224A"/>
                </a:solidFill>
              </a:rPr>
              <a:t>30-day adoption report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657D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DTMC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732520" y="22860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4808B"/>
                </a:solidFill>
              </a:rPr>
              <a:t>SAMPLE  •  FICTIONAL DATA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52881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9D"/>
                </a:solidFill>
              </a:rPr>
              <a:t>05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68580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2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Delivery plan and investment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12648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B76"/>
                </a:solidFill>
              </a:rPr>
              <a:t>Illustrative sample terms, ready to tailor during contracting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9019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657D5"/>
                </a:solidFill>
              </a:rPr>
              <a:t>Delivery cadence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606040"/>
            <a:ext cx="3154680" cy="960120"/>
          </a:xfrm>
          <a:prstGeom prst="chevron">
            <a:avLst/>
          </a:prstGeom>
          <a:solidFill>
            <a:srgbClr val="1822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81635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Prepare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 week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06240" y="2606040"/>
            <a:ext cx="3154680" cy="960120"/>
          </a:xfrm>
          <a:prstGeom prst="chevron">
            <a:avLst/>
          </a:prstGeom>
          <a:solidFill>
            <a:srgbClr val="7657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281635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Deliver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 weeks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680960" y="2606040"/>
            <a:ext cx="3154680" cy="960120"/>
          </a:xfrm>
          <a:prstGeom prst="chevron">
            <a:avLst/>
          </a:prstGeom>
          <a:solidFill>
            <a:srgbClr val="1822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09560" y="281635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Reinforce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30-day reinforcement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4389120"/>
            <a:ext cx="10378440" cy="1051560"/>
          </a:xfrm>
          <a:prstGeom prst="roundRect">
            <a:avLst/>
          </a:prstGeom>
          <a:solidFill>
            <a:srgbClr val="F0EDFC"/>
          </a:solidFill>
          <a:ln w="15240">
            <a:solidFill>
              <a:srgbClr val="7657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4709160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8224A"/>
                </a:solidFill>
              </a:rPr>
              <a:t>Illustrative program fee: $24,000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246120" y="5596128"/>
            <a:ext cx="5623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F7B85"/>
                </a:solidFill>
              </a:rPr>
              <a:t>Dummy commercial values for format evaluation only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657D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DTMC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732520" y="22860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4808B"/>
                </a:solidFill>
              </a:rPr>
              <a:t>SAMPLE  •  FICTIONAL DATA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92840" y="652881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49D"/>
                </a:solidFill>
              </a:rPr>
              <a:t>06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94360" y="68580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22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DTMC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12648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B76"/>
                </a:solidFill>
              </a:rPr>
              <a:t>Practical strategy. Disciplined delivery. Transferable capability.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2148840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F0EDFC"/>
          </a:solidFill>
          <a:ln w="12700">
            <a:solidFill>
              <a:srgbClr val="7657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2951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224A"/>
                </a:solidFill>
              </a:rPr>
              <a:t>Business + technology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2148840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F0EDFC"/>
          </a:solidFill>
          <a:ln w="12700">
            <a:solidFill>
              <a:srgbClr val="7657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22951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224A"/>
                </a:solidFill>
              </a:rPr>
              <a:t>Governance by design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80760" y="2148840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F0EDFC"/>
          </a:solidFill>
          <a:ln w="12700">
            <a:solidFill>
              <a:srgbClr val="7657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22951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224A"/>
                </a:solidFill>
              </a:rPr>
              <a:t>Outcome-led delivery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823960" y="2148840"/>
            <a:ext cx="2560320" cy="566928"/>
          </a:xfrm>
          <a:prstGeom prst="roundRect">
            <a:avLst>
              <a:gd name="adj" fmla="val 12903"/>
            </a:avLst>
          </a:prstGeom>
          <a:solidFill>
            <a:srgbClr val="F0EDFC"/>
          </a:solidFill>
          <a:ln w="12700">
            <a:solidFill>
              <a:srgbClr val="7657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0" y="22951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224A"/>
                </a:solidFill>
              </a:rPr>
              <a:t>Knowledge transfer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200400"/>
            <a:ext cx="10972800" cy="1920240"/>
          </a:xfrm>
          <a:prstGeom prst="roundRect">
            <a:avLst/>
          </a:prstGeom>
          <a:solidFill>
            <a:srgbClr val="1822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3675888"/>
            <a:ext cx="1010412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DTMC brings advisory, architecture, delivery and adoption into one accountable team. We shape the engagement around the client’s decision, keep scope visible and leave behind reusable assets rather than a dependency on consultants.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88720" y="571500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657D5"/>
                </a:solidFill>
              </a:rPr>
              <a:t>Next step: confirm objectives, stakeholder access and the preferred commercial model.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28816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8c5ad11-9392-4153-ba4f-50d41d605136" xsi:nil="true"/>
    <lcf76f155ced4ddcb4097134ff3c332f xmlns="be6cde44-f2ce-4511-b243-c630db64e240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37A6C9EA1B72C4282D04DDB794233E3" ma:contentTypeVersion="11" ma:contentTypeDescription="Create a new document." ma:contentTypeScope="" ma:versionID="168cd0db86a9d53174105700045df54d">
  <xsd:schema xmlns:xsd="http://www.w3.org/2001/XMLSchema" xmlns:xs="http://www.w3.org/2001/XMLSchema" xmlns:p="http://schemas.microsoft.com/office/2006/metadata/properties" xmlns:ns2="be6cde44-f2ce-4511-b243-c630db64e240" xmlns:ns3="18c5ad11-9392-4153-ba4f-50d41d605136" targetNamespace="http://schemas.microsoft.com/office/2006/metadata/properties" ma:root="true" ma:fieldsID="0e12ca21219e5f148ecae76eb8c88d23" ns2:_="" ns3:_="">
    <xsd:import namespace="be6cde44-f2ce-4511-b243-c630db64e240"/>
    <xsd:import namespace="18c5ad11-9392-4153-ba4f-50d41d60513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6cde44-f2ce-4511-b243-c630db64e2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3c29226a-91c8-40b5-9b3a-2acf9fb4478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c5ad11-9392-4153-ba4f-50d41d605136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d38d235-2653-415b-abd2-3bd5bc475d67}" ma:internalName="TaxCatchAll" ma:showField="CatchAllData" ma:web="18c5ad11-9392-4153-ba4f-50d41d60513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87FF39A-A45F-4207-96E0-91D081D21B35}">
  <ds:schemaRefs>
    <ds:schemaRef ds:uri="http://schemas.microsoft.com/office/2006/metadata/properties"/>
    <ds:schemaRef ds:uri="http://schemas.microsoft.com/office/infopath/2007/PartnerControls"/>
    <ds:schemaRef ds:uri="18c5ad11-9392-4153-ba4f-50d41d605136"/>
    <ds:schemaRef ds:uri="be6cde44-f2ce-4511-b243-c630db64e240"/>
  </ds:schemaRefs>
</ds:datastoreItem>
</file>

<file path=customXml/itemProps2.xml><?xml version="1.0" encoding="utf-8"?>
<ds:datastoreItem xmlns:ds="http://schemas.openxmlformats.org/officeDocument/2006/customXml" ds:itemID="{DCBDE81F-473F-4349-A1AB-83A6F17C959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C7875B3-CAD7-4BE5-BB2C-AAD124F1E8A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e6cde44-f2ce-4511-b243-c630db64e240"/>
    <ds:schemaRef ds:uri="18c5ad11-9392-4153-ba4f-50d41d60513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439</Words>
  <Application>Microsoft Office PowerPoint</Application>
  <PresentationFormat>Widescreen</PresentationFormat>
  <Paragraphs>89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DTMC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Responsible Enterprise AI Training</dc:title>
  <dc:subject>Sanitized fictional proposal sample</dc:subject>
  <dc:creator>Nikhil Bheemreddy</dc:creator>
  <cp:lastModifiedBy>Asus</cp:lastModifiedBy>
  <cp:revision>2</cp:revision>
  <dcterms:created xsi:type="dcterms:W3CDTF">2026-08-27T07:12:00Z</dcterms:created>
  <dcterms:modified xsi:type="dcterms:W3CDTF">2026-09-02T20:31:51Z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0x010100037A6C9EA1B72C4282D04DDB794233E3</vt:lpwstr>
  </property>
</Properties>
</file>